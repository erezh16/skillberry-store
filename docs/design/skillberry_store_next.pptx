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365760"/>
            <a:ext cx="11094689" cy="777240"/>
          </a:xfrm>
        </p:spPr>
        <p:txBody>
          <a:bodyPr/>
          <a:lstStyle/>
          <a:p>
            <a:pPr>
              <a:defRPr b="1">
                <a:solidFill>
                  <a:srgbClr val="1F2A30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95" y="3886200"/>
            <a:ext cx="85343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55279" y="6327648"/>
            <a:ext cx="2377440" cy="292608"/>
          </a:xfrm>
        </p:spPr>
        <p:txBody>
          <a:bodyPr wrap="none"/>
          <a:lstStyle/>
          <a:p>
            <a:pPr algn="ctr">
              <a:defRPr sz="900" b="0">
                <a:solidFill>
                  <a:srgbClr val="5F6B72"/>
                </a:solidFill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hf hdr="0" ftr="1" dt="0" sldNum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689" cy="777240"/>
          </a:xfrm>
        </p:spPr>
        <p:txBody>
          <a:bodyPr/>
          <a:lstStyle/>
          <a:p>
            <a:pPr>
              <a:defRPr b="1">
                <a:solidFill>
                  <a:srgbClr val="1F2A30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95" y="0"/>
            <a:ext cx="14630325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55279" y="6327648"/>
            <a:ext cx="2377440" cy="292608"/>
          </a:xfrm>
        </p:spPr>
        <p:txBody>
          <a:bodyPr wrap="none"/>
          <a:lstStyle/>
          <a:p>
            <a:pPr algn="ctr">
              <a:defRPr sz="900" b="0">
                <a:solidFill>
                  <a:srgbClr val="5F6B72"/>
                </a:solidFill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hf hdr="0" ftr="1" dt="0" sldNum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689" cy="77724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b="1">
                <a:solidFill>
                  <a:srgbClr val="1F2A30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1" y="2906713"/>
            <a:ext cx="1036317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55279" y="6327648"/>
            <a:ext cx="2377440" cy="292608"/>
          </a:xfrm>
        </p:spPr>
        <p:txBody>
          <a:bodyPr wrap="none"/>
          <a:lstStyle/>
          <a:p>
            <a:pPr algn="ctr">
              <a:defRPr sz="900" b="0">
                <a:solidFill>
                  <a:srgbClr val="5F6B72"/>
                </a:solidFill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hf hdr="0" ftr="1" dt="0" sldNum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689" cy="777240"/>
          </a:xfrm>
        </p:spPr>
        <p:txBody>
          <a:bodyPr/>
          <a:lstStyle/>
          <a:p>
            <a:pPr>
              <a:defRPr b="1">
                <a:solidFill>
                  <a:srgbClr val="1F2A30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8" y="1600200"/>
            <a:ext cx="538478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584" y="1600200"/>
            <a:ext cx="538478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955279" y="6327648"/>
            <a:ext cx="2377440" cy="292608"/>
          </a:xfrm>
        </p:spPr>
        <p:txBody>
          <a:bodyPr wrap="none"/>
          <a:lstStyle/>
          <a:p>
            <a:pPr algn="ctr">
              <a:defRPr sz="900" b="0">
                <a:solidFill>
                  <a:srgbClr val="5F6B72"/>
                </a:solidFill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hf hdr="0" ftr="1" dt="0" sldNum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689" cy="777240"/>
          </a:xfrm>
        </p:spPr>
        <p:txBody>
          <a:bodyPr/>
          <a:lstStyle>
            <a:lvl1pPr>
              <a:defRPr/>
            </a:lvl1pPr>
          </a:lstStyle>
          <a:p>
            <a:pPr>
              <a:defRPr b="1">
                <a:solidFill>
                  <a:srgbClr val="1F2A30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1535113"/>
            <a:ext cx="538690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8" y="2174875"/>
            <a:ext cx="53869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50" y="1535113"/>
            <a:ext cx="538901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50" y="2174875"/>
            <a:ext cx="538901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955279" y="6327648"/>
            <a:ext cx="2377440" cy="292608"/>
          </a:xfrm>
        </p:spPr>
        <p:txBody>
          <a:bodyPr wrap="none"/>
          <a:lstStyle/>
          <a:p>
            <a:pPr algn="ctr">
              <a:defRPr sz="900" b="0">
                <a:solidFill>
                  <a:srgbClr val="5F6B72"/>
                </a:solidFill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hf hdr="0" ftr="1" dt="0" sldNum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689" cy="777240"/>
          </a:xfrm>
        </p:spPr>
        <p:txBody>
          <a:bodyPr/>
          <a:lstStyle/>
          <a:p>
            <a:pPr>
              <a:defRPr b="1">
                <a:solidFill>
                  <a:srgbClr val="1F2A30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955279" y="6327648"/>
            <a:ext cx="2377440" cy="292608"/>
          </a:xfrm>
        </p:spPr>
        <p:txBody>
          <a:bodyPr wrap="none"/>
          <a:lstStyle/>
          <a:p>
            <a:pPr algn="ctr">
              <a:defRPr sz="900" b="0">
                <a:solidFill>
                  <a:srgbClr val="5F6B72"/>
                </a:solidFill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hf hdr="0" ftr="1" dt="0" sldNum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955279" y="6327648"/>
            <a:ext cx="2377440" cy="292608"/>
          </a:xfrm>
        </p:spPr>
        <p:txBody>
          <a:bodyPr wrap="none"/>
          <a:lstStyle/>
          <a:p>
            <a:pPr algn="ctr">
              <a:defRPr sz="900" b="0">
                <a:solidFill>
                  <a:srgbClr val="5F6B72"/>
                </a:solidFill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hf hdr="0" ftr="1" dt="0" sldNum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689" cy="77724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1F2A30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21" y="273050"/>
            <a:ext cx="68156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8" y="1435100"/>
            <a:ext cx="401107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955279" y="6327648"/>
            <a:ext cx="2377440" cy="292608"/>
          </a:xfrm>
        </p:spPr>
        <p:txBody>
          <a:bodyPr wrap="none"/>
          <a:lstStyle/>
          <a:p>
            <a:pPr algn="ctr">
              <a:defRPr sz="900" b="0">
                <a:solidFill>
                  <a:srgbClr val="5F6B72"/>
                </a:solidFill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hf hdr="0" ftr="1" dt="0" sldNum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689" cy="77724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1F2A30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1" y="612775"/>
            <a:ext cx="7315181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1" y="5367338"/>
            <a:ext cx="7315181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955279" y="6327648"/>
            <a:ext cx="2377440" cy="292608"/>
          </a:xfrm>
        </p:spPr>
        <p:txBody>
          <a:bodyPr wrap="none"/>
          <a:lstStyle/>
          <a:p>
            <a:pPr algn="ctr">
              <a:defRPr sz="900" b="0">
                <a:solidFill>
                  <a:srgbClr val="5F6B72"/>
                </a:solidFill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hf hdr="0" ftr="1" dt="0" sldNum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689" cy="777240"/>
          </a:xfrm>
        </p:spPr>
        <p:txBody>
          <a:bodyPr/>
          <a:lstStyle/>
          <a:p>
            <a:pPr>
              <a:defRPr b="1">
                <a:solidFill>
                  <a:srgbClr val="1F2A30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95" y="0"/>
            <a:ext cx="14630325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55279" y="6327648"/>
            <a:ext cx="2377440" cy="292608"/>
          </a:xfrm>
        </p:spPr>
        <p:txBody>
          <a:bodyPr wrap="none"/>
          <a:lstStyle/>
          <a:p>
            <a:pPr algn="ctr">
              <a:defRPr sz="900" b="0">
                <a:solidFill>
                  <a:srgbClr val="5F6B72"/>
                </a:solidFill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hf hdr="0" ftr="1" dt="0" sldNum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8640" y="365760"/>
            <a:ext cx="11094689" cy="777240"/>
          </a:xfrm>
        </p:spPr>
        <p:txBody>
          <a:bodyPr vert="eaVert"/>
          <a:lstStyle/>
          <a:p>
            <a:pPr>
              <a:defRPr b="1">
                <a:solidFill>
                  <a:srgbClr val="1F2A30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8" y="274638"/>
            <a:ext cx="802637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55279" y="6327648"/>
            <a:ext cx="2377440" cy="292608"/>
          </a:xfrm>
        </p:spPr>
        <p:txBody>
          <a:bodyPr wrap="none"/>
          <a:lstStyle/>
          <a:p>
            <a:pPr algn="ctr">
              <a:defRPr sz="900" b="0">
                <a:solidFill>
                  <a:srgbClr val="5F6B72"/>
                </a:solidFill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hf hdr="0" ftr="1" dt="0" sldNum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689" cy="77724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algn="l">
              <a:defRPr sz="3000" b="1">
                <a:solidFill>
                  <a:srgbClr val="1F2A30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371600"/>
            <a:ext cx="11094689" cy="4526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 sz="1500">
                <a:solidFill>
                  <a:srgbClr val="1F2A30"/>
                </a:solidFill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 sz="1300">
                <a:solidFill>
                  <a:srgbClr val="1F2A30"/>
                </a:solidFill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 sz="1300">
                <a:solidFill>
                  <a:srgbClr val="1F2A30"/>
                </a:solidFill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 sz="1300">
                <a:solidFill>
                  <a:srgbClr val="1F2A30"/>
                </a:solidFill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 sz="1300">
                <a:solidFill>
                  <a:srgbClr val="1F2A30"/>
                </a:solidFill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55279" y="6327648"/>
            <a:ext cx="2377440" cy="292608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>
              <a:defRPr sz="900" b="0">
                <a:solidFill>
                  <a:srgbClr val="5F6B72"/>
                </a:solidFill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8640" y="6327648"/>
            <a:ext cx="7315200" cy="292608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8929" y="6327648"/>
            <a:ext cx="914400" cy="292608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hf hdr="0" ftr="1" dt="0" sldNum="1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689" cy="685800"/>
          </a:xfrm>
        </p:spPr>
        <p:txBody>
          <a:bodyPr wrap="square"/>
          <a:lstStyle/>
          <a:p>
            <a:r>
              <a:rPr sz="3000" b="1">
                <a:solidFill>
                  <a:srgbClr val="1F2A30"/>
                </a:solidFill>
                <a:latin typeface="Cambria"/>
              </a:rPr>
              <a:t>Make Skillberry Store the artifact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548640" y="1554480"/>
            <a:ext cx="5294376" cy="3063240"/>
          </a:xfrm>
        </p:spPr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sz="1700" b="1">
                <a:solidFill>
                  <a:srgbClr val="1F2A30"/>
                </a:solidFill>
                <a:latin typeface="Calibri"/>
              </a:rPr>
              <a:t>Answered well today — by git</a:t>
            </a:r>
          </a:p>
          <a:p>
            <a:pPr>
              <a:spcAft>
                <a:spcPts val="700"/>
              </a:spcAft>
              <a:buNone/>
            </a:pPr>
            <a:r>
              <a:rPr sz="1500" b="1">
                <a:solidFill>
                  <a:srgbClr val="5F6B72"/>
                </a:solidFill>
                <a:latin typeface="Calibri"/>
              </a:rPr>
              <a:t>“How did my artifact do, in my run?”</a:t>
            </a:r>
          </a:p>
          <a:p>
            <a:pPr>
              <a:spcAft>
                <a:spcPts val="700"/>
              </a:spcAft>
              <a:buNone/>
            </a:pPr>
            <a:r>
              <a:rPr sz="1400" b="0">
                <a:solidFill>
                  <a:srgbClr val="1F2A30"/>
                </a:solidFill>
                <a:latin typeface="Calibri"/>
              </a:rPr>
              <a:t>Seven of the eight systems answer this with git and a directory: offline, byte-exact, free, already in CI.</a:t>
            </a:r>
          </a:p>
          <a:p>
            <a:pPr>
              <a:spcAft>
                <a:spcPts val="700"/>
              </a:spcAft>
              <a:buNone/>
            </a:pPr>
            <a:r>
              <a:rPr sz="1400" b="0">
                <a:solidFill>
                  <a:srgbClr val="1F2A30"/>
                </a:solidFill>
                <a:latin typeface="Calibri"/>
              </a:rPr>
              <a:t>A store that competes on this question loses, and should not try.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348953" y="1554480"/>
            <a:ext cx="5294376" cy="3063240"/>
          </a:xfrm>
        </p:spPr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sz="1700" b="1">
                <a:solidFill>
                  <a:srgbClr val="1F2A30"/>
                </a:solidFill>
                <a:latin typeface="Calibri"/>
              </a:rPr>
              <a:t>Unanswerable by anything</a:t>
            </a:r>
          </a:p>
          <a:p>
            <a:pPr>
              <a:spcAft>
                <a:spcPts val="700"/>
              </a:spcAft>
              <a:buNone/>
            </a:pPr>
            <a:r>
              <a:rPr sz="1500" b="1">
                <a:solidFill>
                  <a:srgbClr val="B3261E"/>
                </a:solidFill>
                <a:latin typeface="Calibri"/>
              </a:rPr>
              <a:t>“Has anyone, anywhere, ever measured this exact artifact — and does it help my agent, on my harness, at what cost?”</a:t>
            </a:r>
          </a:p>
          <a:p>
            <a:pPr>
              <a:spcAft>
                <a:spcPts val="700"/>
              </a:spcAft>
              <a:buNone/>
            </a:pPr>
            <a:r>
              <a:rPr sz="1400" b="0">
                <a:solidFill>
                  <a:srgbClr val="1F2A30"/>
                </a:solidFill>
                <a:latin typeface="Calibri"/>
              </a:rPr>
              <a:t>Structural cause: an artifact has no identity that survives leaving the run that produced it.</a:t>
            </a:r>
          </a:p>
          <a:p>
            <a:pPr>
              <a:spcAft>
                <a:spcPts val="700"/>
              </a:spcAft>
              <a:buNone/>
            </a:pPr>
            <a:r>
              <a:rPr sz="1400" b="0">
                <a:solidFill>
                  <a:srgbClr val="1F2A30"/>
                </a:solidFill>
                <a:latin typeface="Calibri"/>
              </a:rPr>
              <a:t>Everything else in the study follows from fixing that.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r>
              <a:rPr sz="900">
                <a:solidFill>
                  <a:srgbClr val="5F6B72"/>
                </a:solidFill>
                <a:latin typeface="Calibri"/>
              </a:rPr>
              <a:t>Skillberry Store — artifact plane study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48640" y="1133856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B6E6E"/>
                </a:solidFill>
                <a:latin typeface="Calibri"/>
              </a:rPr>
              <a:t>Goal: be the place an agent artifact lives once it has to outlive the run that produced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28032"/>
            <a:ext cx="11094689" cy="1078992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9525">
            <a:solidFill>
              <a:srgbClr val="D8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91440"/>
          <a:lstStyle/>
          <a:p>
            <a:pPr algn="ctr"/>
            <a:r>
              <a:rPr sz="1400" b="1">
                <a:solidFill>
                  <a:srgbClr val="1F2A30"/>
                </a:solidFill>
                <a:latin typeface="Calibri"/>
              </a:rPr>
              <a:t>Value tracks the boundaries an artifact crosses.  </a:t>
            </a:r>
            <a:r>
              <a:rPr sz="1400">
                <a:solidFill>
                  <a:srgbClr val="1F2A30"/>
                </a:solidFill>
                <a:latin typeface="Calibri"/>
              </a:rPr>
              <a:t>One run, one machine, one agent, one person → use git. More than one run, agent, model, harness, person or optimizer → the store. Below that threshold Skillberry Store is overhead; above it, nothing in this landscape is even trying.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689" cy="685800"/>
          </a:xfrm>
        </p:spPr>
        <p:txBody>
          <a:bodyPr wrap="square"/>
          <a:lstStyle/>
          <a:p>
            <a:r>
              <a:rPr sz="3000" b="1">
                <a:solidFill>
                  <a:srgbClr val="1F2A30"/>
                </a:solidFill>
                <a:latin typeface="Cambria"/>
              </a:rPr>
              <a:t>Eight systems independently built the same substrate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6812280" cy="4315968"/>
          </a:xfrm>
        </p:spPr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sz="1400" b="1">
                <a:solidFill>
                  <a:srgbClr val="0B6E6E"/>
                </a:solidFill>
                <a:latin typeface="Calibri"/>
              </a:rPr>
              <a:t>cap-evolve · Arbor · Harbor · GEPA · gskill · SkillOpt · CORAL · AgentEvalHarness</a:t>
            </a:r>
          </a:p>
          <a:p>
            <a:pPr>
              <a:spcAft>
                <a:spcPts val="700"/>
              </a:spcAft>
              <a:buNone/>
            </a:pPr>
            <a:r>
              <a:rPr sz="1400" b="0">
                <a:solidFill>
                  <a:srgbClr val="1F2A30"/>
                </a:solidFill>
                <a:latin typeface="Calibri"/>
              </a:rPr>
              <a:t>No shared lineage — yet each converged on content digests, immutable versions, multi-parent lineage, sealed evaluation, “missing data is not a zero score”, and a stored record of what already failed.</a:t>
            </a:r>
          </a:p>
          <a:p>
            <a:pPr>
              <a:spcAft>
                <a:spcPts val="700"/>
              </a:spcAft>
              <a:buNone/>
            </a:pPr>
            <a:r>
              <a:rPr sz="1400" b="0">
                <a:solidFill>
                  <a:srgbClr val="1F2A30"/>
                </a:solidFill>
                <a:latin typeface="Calibri"/>
              </a:rPr>
              <a:t>Seven persist to git and loose files. The eighth uses MLflow, which is run-centric.</a:t>
            </a:r>
          </a:p>
          <a:p>
            <a:pPr>
              <a:spcAft>
                <a:spcPts val="700"/>
              </a:spcAft>
              <a:buNone/>
            </a:pPr>
            <a:r>
              <a:rPr sz="1400" b="0">
                <a:solidFill>
                  <a:srgbClr val="1F2A30"/>
                </a:solidFill>
                <a:latin typeface="Calibri"/>
              </a:rPr>
              <a:t>Harbor has a real registry — for tasks and datasets, and explicitly not for the capability artifacts being optimized.</a:t>
            </a:r>
          </a:p>
          <a:p>
            <a:pPr>
              <a:spcAft>
                <a:spcPts val="700"/>
              </a:spcAft>
              <a:buNone/>
            </a:pPr>
            <a:r>
              <a:rPr sz="1400" b="0">
                <a:solidFill>
                  <a:srgbClr val="1F2A30"/>
                </a:solidFill>
                <a:latin typeface="Calibri"/>
              </a:rPr>
              <a:t>So nobody has an artifact registry, and the two most sophisticated — GEPA’s pickle, CORAL’s symlinked directory — strain hardest against it.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r>
              <a:rPr sz="900">
                <a:solidFill>
                  <a:srgbClr val="5F6B72"/>
                </a:solidFill>
                <a:latin typeface="Calibri"/>
              </a:rPr>
              <a:t>Skillberry Store — artifact plane study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818120" y="1554480"/>
            <a:ext cx="3822191" cy="123444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9525">
            <a:solidFill>
              <a:srgbClr val="D8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0B6E6E"/>
                </a:solidFill>
                <a:latin typeface="Cambria"/>
              </a:rPr>
              <a:t>8 / 8</a:t>
            </a:r>
          </a:p>
          <a:p>
            <a:pPr algn="l"/>
            <a:r>
              <a:rPr sz="1300">
                <a:solidFill>
                  <a:srgbClr val="1F2A30"/>
                </a:solidFill>
                <a:latin typeface="Calibri"/>
              </a:rPr>
              <a:t>bind a measurement to an artifact 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971800"/>
            <a:ext cx="3822191" cy="123444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9525">
            <a:solidFill>
              <a:srgbClr val="D8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0B6E6E"/>
                </a:solidFill>
                <a:latin typeface="Cambria"/>
              </a:rPr>
              <a:t>8 / 8</a:t>
            </a:r>
          </a:p>
          <a:p>
            <a:pPr algn="l"/>
            <a:r>
              <a:rPr sz="1300">
                <a:solidFill>
                  <a:srgbClr val="1F2A30"/>
                </a:solidFill>
                <a:latin typeface="Calibri"/>
              </a:rPr>
              <a:t>seal the test split, and score it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4443984"/>
            <a:ext cx="3822191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F6B72"/>
                </a:solidFill>
                <a:latin typeface="Calibri"/>
              </a:rPr>
              <a:t>The two primitives every one of the eight concluded it could not work without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B3261E"/>
                </a:solidFill>
                <a:latin typeface="Calibri"/>
              </a:rPr>
              <a:t>are the two Skillberry Store lacks entirely.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689" cy="685800"/>
          </a:xfrm>
        </p:spPr>
        <p:txBody>
          <a:bodyPr wrap="square"/>
          <a:lstStyle/>
          <a:p>
            <a:r>
              <a:rPr sz="3000" b="1">
                <a:solidFill>
                  <a:srgbClr val="1F2A30"/>
                </a:solidFill>
                <a:latin typeface="Cambria"/>
              </a:rPr>
              <a:t>Skillberry Store today — measured, not assumed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r>
              <a:rPr sz="900">
                <a:solidFill>
                  <a:srgbClr val="5F6B72"/>
                </a:solidFill>
                <a:latin typeface="Calibri"/>
              </a:rPr>
              <a:t>Skillberry Store — artifact plane study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F6B72"/>
                </a:solidFill>
                <a:latin typeface="Calibri"/>
              </a:rPr>
              <a:t>81 published skills from five independent projects (759 files), and a running store at main.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072633" cy="210312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9525">
            <a:solidFill>
              <a:srgbClr val="D8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B3261E"/>
                </a:solidFill>
                <a:latin typeface="Cambria"/>
              </a:rPr>
              <a:t>0 / 12</a:t>
            </a:r>
          </a:p>
          <a:p>
            <a:pPr algn="l"/>
            <a:r>
              <a:rPr sz="1150">
                <a:solidFill>
                  <a:srgbClr val="1F2A30"/>
                </a:solidFill>
                <a:latin typeface="Calibri"/>
              </a:rPr>
              <a:t>skills preserve a bundle digest — byte-and-mode fidelity is never achieved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4153" y="1554480"/>
            <a:ext cx="2072633" cy="210312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9525">
            <a:solidFill>
              <a:srgbClr val="D8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B3261E"/>
                </a:solidFill>
                <a:latin typeface="Cambria"/>
              </a:rPr>
              <a:t>21%</a:t>
            </a:r>
          </a:p>
          <a:p>
            <a:pPr algn="l"/>
            <a:r>
              <a:rPr sz="1150">
                <a:solidFill>
                  <a:srgbClr val="1F2A30"/>
                </a:solidFill>
                <a:latin typeface="Calibri"/>
              </a:rPr>
              <a:t>have a declared licence replaced by a fabricated “Proprietary”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59666" y="1554480"/>
            <a:ext cx="2072633" cy="210312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9525">
            <a:solidFill>
              <a:srgbClr val="D8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B3261E"/>
                </a:solidFill>
                <a:latin typeface="Cambria"/>
              </a:rPr>
              <a:t>18.5%</a:t>
            </a:r>
          </a:p>
          <a:p>
            <a:pPr algn="l"/>
            <a:r>
              <a:rPr sz="1150">
                <a:solidFill>
                  <a:srgbClr val="1F2A30"/>
                </a:solidFill>
                <a:latin typeface="Calibri"/>
              </a:rPr>
              <a:t>lose an executable bit on a script the skill itself invokes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79" y="1554480"/>
            <a:ext cx="2072633" cy="210312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9525">
            <a:solidFill>
              <a:srgbClr val="D8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B3261E"/>
                </a:solidFill>
                <a:latin typeface="Cambria"/>
              </a:rPr>
              <a:t>99×</a:t>
            </a:r>
          </a:p>
          <a:p>
            <a:pPr algn="l"/>
            <a:r>
              <a:rPr sz="1150">
                <a:solidFill>
                  <a:srgbClr val="1F2A30"/>
                </a:solidFill>
                <a:latin typeface="Calibri"/>
              </a:rPr>
              <a:t>read slowdown caused by a single concurrent writer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0692" y="1554480"/>
            <a:ext cx="2072633" cy="210312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9525">
            <a:solidFill>
              <a:srgbClr val="D8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B3261E"/>
                </a:solidFill>
                <a:latin typeface="Cambria"/>
              </a:rPr>
              <a:t>1st try</a:t>
            </a:r>
          </a:p>
          <a:p>
            <a:pPr algn="l"/>
            <a:r>
              <a:rPr sz="1150">
                <a:solidFill>
                  <a:srgbClr val="1F2A30"/>
                </a:solidFill>
                <a:latin typeface="Calibri"/>
              </a:rPr>
              <a:t>a lost update reproduced — both writers got HTTP 200, one vanished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50208"/>
            <a:ext cx="1109468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30"/>
                </a:solidFill>
                <a:latin typeface="Calibri"/>
              </a:rPr>
              <a:t>The defects are not independent.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A30"/>
                </a:solidFill>
                <a:latin typeface="Calibri"/>
              </a:rPr>
              <a:t>No byte-faithful artifact → no meaningful digest → no version identity → a measurement bound to nothing, and Harbor unable to use Skillberry Store as a skill source at all. Separately: global names mean two candidates cannot coexist, so the one live consumer wipes the whole store between candidates.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B3261E"/>
                </a:solidFill>
                <a:latin typeface="Calibri"/>
              </a:rPr>
              <a:t>The failure mode of the chain is a wrong number that looks right — and every one of these systems exists to produce numbers people will act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689" cy="685800"/>
          </a:xfrm>
        </p:spPr>
        <p:txBody>
          <a:bodyPr wrap="square"/>
          <a:lstStyle/>
          <a:p>
            <a:r>
              <a:rPr sz="3000" b="1">
                <a:solidFill>
                  <a:srgbClr val="1F2A30"/>
                </a:solidFill>
                <a:latin typeface="Cambria"/>
              </a:rPr>
              <a:t>What to fix first, and what it is worth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426464"/>
            <a:ext cx="5294376" cy="402336"/>
          </a:xfrm>
        </p:spPr>
        <p:txBody>
          <a:bodyPr wrap="square"/>
          <a:lstStyle/>
          <a:p>
            <a:pPr>
              <a:buNone/>
            </a:pPr>
            <a:r>
              <a:rPr sz="1700" b="1">
                <a:solidFill>
                  <a:srgbClr val="1F2A30"/>
                </a:solidFill>
                <a:latin typeface="Calibri"/>
              </a:rPr>
              <a:t>Four tiers, in dependency order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48640" y="1883664"/>
            <a:ext cx="5294376" cy="3977639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</a:pPr>
            <a:r>
              <a:rPr sz="1400" b="1">
                <a:solidFill>
                  <a:srgbClr val="B3261E"/>
                </a:solidFill>
                <a:latin typeface="Calibri"/>
              </a:rPr>
              <a:t>T0   Five wrong-output defects</a:t>
            </a:r>
          </a:p>
          <a:p>
            <a:pPr lvl="1">
              <a:spcAft>
                <a:spcPts val="400"/>
              </a:spcAft>
              <a:buNone/>
            </a:pPr>
            <a:r>
              <a:rPr sz="1250" b="0">
                <a:solidFill>
                  <a:srgbClr val="1F2A30"/>
                </a:solidFill>
                <a:latin typeface="Calibri"/>
              </a:rPr>
              <a:t>Fabricated licences, silent file loss, an inert delete cascade, destructive metadata parsing, a lost-write race. Small, independent, shippable now.</a:t>
            </a:r>
          </a:p>
          <a:p>
            <a:pPr>
              <a:spcAft>
                <a:spcPts val="400"/>
              </a:spcAft>
              <a:buNone/>
            </a:pPr>
            <a:r>
              <a:rPr sz="1400" b="1">
                <a:solidFill>
                  <a:srgbClr val="0B6E6E"/>
                </a:solidFill>
                <a:latin typeface="Calibri"/>
              </a:rPr>
              <a:t>T1   Artifact identity — the keystone</a:t>
            </a:r>
          </a:p>
          <a:p>
            <a:pPr lvl="1">
              <a:spcAft>
                <a:spcPts val="400"/>
              </a:spcAft>
              <a:buNone/>
            </a:pPr>
            <a:r>
              <a:rPr sz="1250" b="0">
                <a:solidFill>
                  <a:srgbClr val="1F2A30"/>
                </a:solidFill>
                <a:latin typeface="Calibri"/>
              </a:rPr>
              <a:t>Bundles, blobs, dual digests, immutable versions, Harbor-compatible refs. Nothing attaches to an artifact until it has a stable identity.</a:t>
            </a:r>
          </a:p>
          <a:p>
            <a:pPr>
              <a:spcAft>
                <a:spcPts val="400"/>
              </a:spcAft>
              <a:buNone/>
            </a:pPr>
            <a:r>
              <a:rPr sz="1400" b="1">
                <a:solidFill>
                  <a:srgbClr val="1F2A30"/>
                </a:solidFill>
                <a:latin typeface="Calibri"/>
              </a:rPr>
              <a:t>T2   Concurrency safety</a:t>
            </a:r>
          </a:p>
          <a:p>
            <a:pPr lvl="1">
              <a:spcAft>
                <a:spcPts val="400"/>
              </a:spcAft>
              <a:buNone/>
            </a:pPr>
            <a:r>
              <a:rPr sz="1250" b="0">
                <a:solidFill>
                  <a:srgbClr val="1F2A30"/>
                </a:solidFill>
                <a:latin typeface="Calibri"/>
              </a:rPr>
              <a:t>ETag / If-Match, PATCH, atomic publish, indexing off the write path.</a:t>
            </a:r>
          </a:p>
          <a:p>
            <a:pPr>
              <a:spcAft>
                <a:spcPts val="400"/>
              </a:spcAft>
              <a:buNone/>
            </a:pPr>
            <a:r>
              <a:rPr sz="1400" b="1">
                <a:solidFill>
                  <a:srgbClr val="1F2A30"/>
                </a:solidFill>
                <a:latin typeface="Calibri"/>
              </a:rPr>
              <a:t>T3   Isolation</a:t>
            </a:r>
          </a:p>
          <a:p>
            <a:pPr lvl="1">
              <a:spcAft>
                <a:spcPts val="400"/>
              </a:spcAft>
              <a:buNone/>
            </a:pPr>
            <a:r>
              <a:rPr sz="1250" b="0">
                <a:solidFill>
                  <a:srgbClr val="1F2A30"/>
                </a:solidFill>
                <a:latin typeface="Calibri"/>
              </a:rPr>
              <a:t>Namespaces, workspaces, one declarative apply — ends store-reset-per-candidate.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>
          <a:xfrm>
            <a:off x="6348953" y="1426464"/>
            <a:ext cx="5294376" cy="402336"/>
          </a:xfrm>
        </p:spPr>
        <p:txBody>
          <a:bodyPr wrap="square"/>
          <a:lstStyle/>
          <a:p>
            <a:pPr>
              <a:buNone/>
            </a:pPr>
            <a:r>
              <a:rPr sz="1700" b="1">
                <a:solidFill>
                  <a:srgbClr val="1F2A30"/>
                </a:solidFill>
                <a:latin typeface="Calibri"/>
              </a:rPr>
              <a:t>Seven provably-zero baselines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348953" y="1883664"/>
            <a:ext cx="5294376" cy="3977639"/>
          </a:xfrm>
        </p:spPr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sz="1300" b="0">
                <a:solidFill>
                  <a:srgbClr val="1F2A30"/>
                </a:solidFill>
                <a:latin typeface="Calibri"/>
              </a:rPr>
              <a:t>cap-evolve — parallel candidates: 1 → K</a:t>
            </a:r>
          </a:p>
          <a:p>
            <a:pPr>
              <a:spcAft>
                <a:spcPts val="700"/>
              </a:spcAft>
              <a:buNone/>
            </a:pPr>
            <a:r>
              <a:rPr sz="1300" b="0">
                <a:solidFill>
                  <a:srgbClr val="1F2A30"/>
                </a:solidFill>
                <a:latin typeface="Calibri"/>
              </a:rPr>
              <a:t>Harbor — skills sourced from the store: 0 → works</a:t>
            </a:r>
          </a:p>
          <a:p>
            <a:pPr>
              <a:spcAft>
                <a:spcPts val="700"/>
              </a:spcAft>
              <a:buNone/>
            </a:pPr>
            <a:r>
              <a:rPr sz="1300" b="0">
                <a:solidFill>
                  <a:srgbClr val="1F2A30"/>
                </a:solidFill>
                <a:latin typeface="Calibri"/>
              </a:rPr>
              <a:t>GEPA — eval-cache hits across runs: 0 → &gt;0</a:t>
            </a:r>
          </a:p>
          <a:p>
            <a:pPr>
              <a:spcAft>
                <a:spcPts val="700"/>
              </a:spcAft>
              <a:buNone/>
            </a:pPr>
            <a:r>
              <a:rPr sz="1300" b="0">
                <a:solidFill>
                  <a:srgbClr val="1F2A30"/>
                </a:solidFill>
                <a:latin typeface="Calibri"/>
              </a:rPr>
              <a:t>gskill — repo skills with a transfer matrix: 0 → N</a:t>
            </a:r>
          </a:p>
          <a:p>
            <a:pPr>
              <a:spcAft>
                <a:spcPts val="700"/>
              </a:spcAft>
              <a:buNone/>
            </a:pPr>
            <a:r>
              <a:rPr sz="1300" b="0">
                <a:solidFill>
                  <a:srgbClr val="1F2A30"/>
                </a:solidFill>
                <a:latin typeface="Calibri"/>
              </a:rPr>
              <a:t>Arbor — findings reused across projects: 0 → K</a:t>
            </a:r>
          </a:p>
          <a:p>
            <a:pPr>
              <a:spcAft>
                <a:spcPts val="700"/>
              </a:spcAft>
              <a:buNone/>
            </a:pPr>
            <a:r>
              <a:rPr sz="1300" b="0">
                <a:solidFill>
                  <a:srgbClr val="1F2A30"/>
                </a:solidFill>
                <a:latin typeface="Calibri"/>
              </a:rPr>
              <a:t>CORAL — knowledge past the run boundary: 0 → K</a:t>
            </a:r>
          </a:p>
          <a:p>
            <a:pPr>
              <a:spcAft>
                <a:spcPts val="700"/>
              </a:spcAft>
              <a:buNone/>
            </a:pPr>
            <a:r>
              <a:rPr sz="1300" b="0">
                <a:solidFill>
                  <a:srgbClr val="1F2A30"/>
                </a:solidFill>
                <a:latin typeface="Calibri"/>
              </a:rPr>
              <a:t>AEH — measurements tied to a judge version: 0% → 100%</a:t>
            </a:r>
          </a:p>
          <a:p>
            <a:pPr>
              <a:spcAft>
                <a:spcPts val="700"/>
              </a:spcAft>
              <a:buNone/>
            </a:pPr>
            <a:r>
              <a:rPr sz="1300" b="1">
                <a:solidFill>
                  <a:srgbClr val="0B6E6E"/>
                </a:solidFill>
                <a:latin typeface="Calibri"/>
              </a:rPr>
              <a:t>When a baseline is provably zero, one successful demonstration is the proof — no paired runs, no significance test.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48640" y="6327648"/>
            <a:ext cx="7315200" cy="292608"/>
          </a:xfrm>
        </p:spPr>
        <p:txBody>
          <a:bodyPr wrap="none"/>
          <a:lstStyle/>
          <a:p>
            <a:pPr algn="l">
              <a:defRPr sz="900" b="0">
                <a:solidFill>
                  <a:srgbClr val="5F6B72"/>
                </a:solidFill>
                <a:latin typeface="Calibri"/>
              </a:defRPr>
            </a:pPr>
            <a:r>
              <a:rPr sz="900">
                <a:solidFill>
                  <a:srgbClr val="5F6B72"/>
                </a:solidFill>
                <a:latin typeface="Calibri"/>
              </a:rPr>
              <a:t>Skillberry Store — artifact plane study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728929" y="6327648"/>
            <a:ext cx="914400" cy="292608"/>
          </a:xfrm>
        </p:spPr>
        <p:txBody>
          <a:bodyPr wrap="none"/>
          <a:lstStyle/>
          <a:p>
            <a:pPr algn="r">
              <a:defRPr sz="900" b="0">
                <a:solidFill>
                  <a:srgbClr val="5F6B72"/>
                </a:solidFill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illberry Store">
  <a:themeElements>
    <a:clrScheme name="Skillberry Store">
      <a:dk1>
        <a:srgbClr val="1F2A30"/>
      </a:dk1>
      <a:lt1>
        <a:srgbClr val="FFFFFF"/>
      </a:lt1>
      <a:dk2>
        <a:srgbClr val="3C4A52"/>
      </a:dk2>
      <a:lt2>
        <a:srgbClr val="F2F4F5"/>
      </a:lt2>
      <a:accent1>
        <a:srgbClr val="0B6E6E"/>
      </a:accent1>
      <a:accent2>
        <a:srgbClr val="B3261E"/>
      </a:accent2>
      <a:accent3>
        <a:srgbClr val="5F6B72"/>
      </a:accent3>
      <a:accent4>
        <a:srgbClr val="D8DEE1"/>
      </a:accent4>
      <a:accent5>
        <a:srgbClr val="14807E"/>
      </a:accent5>
      <a:accent6>
        <a:srgbClr val="8A5A00"/>
      </a:accent6>
      <a:hlink>
        <a:srgbClr val="0B6E6E"/>
      </a:hlink>
      <a:folHlink>
        <a:srgbClr val="5F6B72"/>
      </a:folHlink>
    </a:clrScheme>
    <a:fontScheme name="Skillberry Stor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